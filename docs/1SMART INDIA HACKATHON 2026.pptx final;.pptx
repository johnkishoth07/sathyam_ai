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0"/>
  </p:handoutMasterIdLst>
  <p:sldIdLst>
    <p:sldId id="256" r:id="rId3"/>
    <p:sldId id="257" r:id="rId4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2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282"/>
        <p:guide pos="38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jpeg"/><Relationship Id="rId8" Type="http://schemas.openxmlformats.org/officeDocument/2006/relationships/image" Target="../media/image14.jpeg"/><Relationship Id="rId7" Type="http://schemas.openxmlformats.org/officeDocument/2006/relationships/image" Target="../media/image13.jpeg"/><Relationship Id="rId6" Type="http://schemas.openxmlformats.org/officeDocument/2006/relationships/image" Target="../media/image12.jpeg"/><Relationship Id="rId5" Type="http://schemas.openxmlformats.org/officeDocument/2006/relationships/hyperlink" Target="https://github.com/tesseract-ocr/tesseract" TargetMode="External"/><Relationship Id="rId4" Type="http://schemas.openxmlformats.org/officeDocument/2006/relationships/hyperlink" Target="https://www.niti.gov.in/sites/default/files/2023-03/National-Strategy-for-Artificial-Intelligence.pdf" TargetMode="External"/><Relationship Id="rId3" Type="http://schemas.openxmlformats.org/officeDocument/2006/relationships/hyperlink" Target="https://github.com/shanmuk-07/SATYAM-MASTER.git" TargetMode="External"/><Relationship Id="rId2" Type="http://schemas.openxmlformats.org/officeDocument/2006/relationships/hyperlink" Target="https://doe.gov.in/files/inline-documents/GFR2017.pdf" TargetMode="Externa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.png"/><Relationship Id="rId11" Type="http://schemas.openxmlformats.org/officeDocument/2006/relationships/image" Target="../media/image17.png"/><Relationship Id="rId10" Type="http://schemas.openxmlformats.org/officeDocument/2006/relationships/image" Target="../media/image16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1276330" cy="1168400"/>
          </a:xfrm>
        </p:spPr>
        <p:txBody>
          <a:bodyPr>
            <a:normAutofit/>
          </a:bodyPr>
          <a:lstStyle/>
          <a:p>
            <a:r>
              <a:rPr lang="en-US" altLang="en-GB" sz="4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SM</a:t>
            </a:r>
            <a:r>
              <a:rPr lang="en-US" altLang="en-GB" sz="4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ART INDIA HACKATHON 2026</a:t>
            </a:r>
            <a:r>
              <a:rPr lang="en-US" altLang="en-GB" sz="4800" dirty="0"/>
              <a:t> </a:t>
            </a:r>
            <a:endParaRPr lang="en-US" alt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65" y="1465580"/>
            <a:ext cx="12192000" cy="4968875"/>
          </a:xfrm>
        </p:spPr>
        <p:txBody>
          <a:bodyPr>
            <a:normAutofit fontScale="40000"/>
          </a:bodyPr>
          <a:lstStyle/>
          <a:p>
            <a:pPr algn="l"/>
            <a:r>
              <a:rPr lang="en-US" altLang="en-GB" sz="2665" b="1">
                <a:latin typeface="Times New Roman" panose="02020603050405020304" charset="0"/>
                <a:cs typeface="Times New Roman" panose="02020603050405020304" charset="0"/>
              </a:rPr>
              <a:t>•</a:t>
            </a:r>
            <a:r>
              <a:rPr lang="en-US" altLang="en-GB" sz="4000" b="1">
                <a:latin typeface="Times New Roman" panose="02020603050405020304" charset="0"/>
                <a:cs typeface="Times New Roman" panose="02020603050405020304" charset="0"/>
              </a:rPr>
              <a:t> Problem  Statement ID – SIH26100</a:t>
            </a:r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GB" sz="4000" b="1">
                <a:latin typeface="Times New Roman" panose="02020603050405020304" charset="0"/>
                <a:cs typeface="Times New Roman" panose="02020603050405020304" charset="0"/>
              </a:rPr>
              <a:t>• Problem Statement Title - </a:t>
            </a:r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GB" altLang="en-US" sz="4000" b="1">
                <a:latin typeface="Times New Roman" panose="02020603050405020304" charset="0"/>
                <a:cs typeface="Times New Roman" panose="02020603050405020304" charset="0"/>
              </a:rPr>
              <a:t>  Project SATYAM</a:t>
            </a:r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GB" altLang="en-US" sz="4000" b="1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GB" sz="4000" b="1">
                <a:latin typeface="Times New Roman" panose="02020603050405020304" charset="0"/>
                <a:cs typeface="Times New Roman" panose="02020603050405020304" charset="0"/>
              </a:rPr>
              <a:t>AI-Powered Integrated Bid Compliance Verification Platform for GeM </a:t>
            </a:r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GB" altLang="en-US" sz="4000" b="1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GB" sz="4000" b="1">
                <a:latin typeface="Times New Roman" panose="02020603050405020304" charset="0"/>
                <a:cs typeface="Times New Roman" panose="02020603050405020304" charset="0"/>
              </a:rPr>
              <a:t>Procurement</a:t>
            </a:r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GB" sz="4000" b="1">
                <a:latin typeface="Times New Roman" panose="02020603050405020304" charset="0"/>
                <a:cs typeface="Times New Roman" panose="02020603050405020304" charset="0"/>
              </a:rPr>
              <a:t> • Theme - GovTech / Smart Procurement</a:t>
            </a:r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GB" sz="4000" b="1">
                <a:latin typeface="Times New Roman" panose="02020603050405020304" charset="0"/>
                <a:cs typeface="Times New Roman" panose="02020603050405020304" charset="0"/>
              </a:rPr>
              <a:t> • PS Category -  Software / AI-Powered Decision Support</a:t>
            </a:r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GB" sz="4000" b="1">
                <a:latin typeface="Times New Roman" panose="02020603050405020304" charset="0"/>
                <a:cs typeface="Times New Roman" panose="02020603050405020304" charset="0"/>
              </a:rPr>
              <a:t> • Team ID - </a:t>
            </a:r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GB" sz="4000" b="1">
                <a:latin typeface="Times New Roman" panose="02020603050405020304" charset="0"/>
                <a:cs typeface="Times New Roman" panose="02020603050405020304" charset="0"/>
              </a:rPr>
              <a:t> • Team Name (Registered on portal) -  Techy Pirates</a:t>
            </a:r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GB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 descr="team logo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" y="101600"/>
            <a:ext cx="955675" cy="596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7338761" y="1927336"/>
            <a:ext cx="3203509" cy="3426237"/>
          </a:xfrm>
          <a:prstGeom prst="rect">
            <a:avLst/>
          </a:prstGeom>
        </p:spPr>
      </p:pic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187005" y="1062976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1667490" y="654621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200">
                <a:solidFill>
                  <a:schemeClr val="bg1"/>
                </a:solidFill>
              </a:rPr>
              <a:t>1</a:t>
            </a:r>
            <a:endParaRPr lang="en-GB" altLang="en-US" sz="120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341" y="106275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55" y="214630"/>
            <a:ext cx="9325610" cy="1089660"/>
          </a:xfrm>
        </p:spPr>
        <p:txBody>
          <a:bodyPr>
            <a:normAutofit fontScale="90000"/>
          </a:bodyPr>
          <a:p>
            <a:pPr algn="ctr"/>
            <a:r>
              <a:rPr lang="en-GB" altLang="en-US" sz="278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SATYAM</a:t>
            </a:r>
            <a:r>
              <a:rPr lang="en-US" altLang="en-GB" sz="278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 :</a:t>
            </a:r>
            <a:r>
              <a:rPr lang="en-GB" altLang="en-US" sz="278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78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An intelligent compliance and verification layer</a:t>
            </a:r>
            <a:r>
              <a:rPr lang="en-GB" altLang="en-US" sz="278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78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built</a:t>
            </a:r>
            <a:r>
              <a:rPr lang="en-GB" altLang="en-US" sz="278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78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around the GeM procurement ecosystem</a:t>
            </a:r>
            <a:br>
              <a:rPr lang="en-US" altLang="en-GB" sz="2780">
                <a:solidFill>
                  <a:srgbClr val="002060"/>
                </a:solidFill>
              </a:rPr>
            </a:br>
            <a:endParaRPr lang="en-US" altLang="en-GB" sz="2780">
              <a:solidFill>
                <a:srgbClr val="002060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751580" y="4542790"/>
            <a:ext cx="3754755" cy="1016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 sz="1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4351655" y="3429000"/>
            <a:ext cx="3531235" cy="19837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noAutofit/>
          </a:bodyPr>
          <a:p>
            <a:r>
              <a:rPr lang="en-US" altLang="en-GB" sz="2000" b="1" u="sng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Why important</a:t>
            </a:r>
            <a:r>
              <a:rPr lang="en-US" altLang="en-GB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en-GB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India risks </a:t>
            </a:r>
            <a:r>
              <a:rPr lang="en-US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₹</a:t>
            </a:r>
            <a:r>
              <a:rPr lang="en-US" altLang="en-GB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10,000+ crores</a:t>
            </a:r>
            <a:r>
              <a:rPr lang="en-US" altLang="en-GB" sz="2000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annually in financial leakage from compliance errors, while evaluation bottlenecks severely stall critical national projects.</a:t>
            </a:r>
            <a:endParaRPr lang="en-US" altLang="en-GB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306570" y="1025525"/>
            <a:ext cx="3576955" cy="226441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GB" sz="2000" b="1" u="sng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Real-world issue</a:t>
            </a:r>
            <a:r>
              <a:rPr lang="en-US" altLang="en-GB" sz="2000" b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en-US" altLang="en-GB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en-GB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/>
            <a:r>
              <a:rPr lang="en-US" altLang="en-GB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Manual verification of GeM bids requires officers to inspect multiple documents and tender clauses, causing delays, inconsistent decisions and missed compliance risks.</a:t>
            </a:r>
            <a:endParaRPr lang="en-US" altLang="en-GB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420370" y="4636770"/>
            <a:ext cx="6635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GB"/>
          </a:p>
        </p:txBody>
      </p:sp>
      <p:sp>
        <p:nvSpPr>
          <p:cNvPr id="28" name="Text Box 27"/>
          <p:cNvSpPr txBox="1"/>
          <p:nvPr/>
        </p:nvSpPr>
        <p:spPr>
          <a:xfrm>
            <a:off x="7801610" y="4541520"/>
            <a:ext cx="4073525" cy="1537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/>
          </a:p>
        </p:txBody>
      </p:sp>
      <p:pic>
        <p:nvPicPr>
          <p:cNvPr id="32" name="Picture 31" descr="team logo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" y="88900"/>
            <a:ext cx="995045" cy="570230"/>
          </a:xfrm>
          <a:prstGeom prst="rect">
            <a:avLst/>
          </a:prstGeom>
        </p:spPr>
      </p:pic>
      <p:pic>
        <p:nvPicPr>
          <p:cNvPr id="12" name="Picture 11" descr="file_000000008dc08211b371ba925171385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" y="1025525"/>
            <a:ext cx="4043680" cy="4367530"/>
          </a:xfrm>
          <a:prstGeom prst="rect">
            <a:avLst/>
          </a:prstGeom>
        </p:spPr>
      </p:pic>
      <p:sp>
        <p:nvSpPr>
          <p:cNvPr id="36" name="Text Box 35"/>
          <p:cNvSpPr txBox="1"/>
          <p:nvPr/>
        </p:nvSpPr>
        <p:spPr>
          <a:xfrm>
            <a:off x="80010" y="5558790"/>
            <a:ext cx="11936730" cy="8636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noAutofit/>
          </a:bodyPr>
          <a:p>
            <a:r>
              <a:rPr lang="en-US" altLang="en-GB" sz="2400" b="1" u="sng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Solution:</a:t>
            </a:r>
            <a:r>
              <a:rPr lang="en-US" altLang="en-GB" sz="2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SATYAM automates document extraction and compliance checks, reducing verification time while providing explainable results for officer review. </a:t>
            </a:r>
            <a:endParaRPr lang="en-US" altLang="en-GB" sz="24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0" y="6546215"/>
            <a:ext cx="12192000" cy="31178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0" y="654621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@SIH Idea submission- Template</a:t>
            </a:r>
            <a:endParaRPr lang="en-US" sz="1200" dirty="0">
              <a:solidFill>
                <a:schemeClr val="bg1"/>
              </a:solidFill>
              <a:latin typeface="+mj-lt"/>
              <a:cs typeface="+mj-lt"/>
            </a:endParaRPr>
          </a:p>
          <a:p>
            <a:pPr algn="ctr"/>
            <a:endParaRPr lang="en-GB" altLang="en-US" sz="1200">
              <a:latin typeface="+mj-lt"/>
              <a:cs typeface="+mj-lt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700510" y="656844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GB" altLang="en-US" sz="1200">
                <a:solidFill>
                  <a:schemeClr val="bg1"/>
                </a:solidFill>
                <a:latin typeface="+mn-ea"/>
                <a:cs typeface="+mn-ea"/>
              </a:rPr>
              <a:t>2</a:t>
            </a:r>
            <a:endParaRPr lang="en-GB" altLang="en-US" sz="1200">
              <a:solidFill>
                <a:schemeClr val="bg1"/>
              </a:solidFill>
              <a:latin typeface="+mn-ea"/>
              <a:cs typeface="+mn-e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6921" y="230"/>
            <a:ext cx="2249850" cy="1062337"/>
          </a:xfrm>
          <a:prstGeom prst="rect">
            <a:avLst/>
          </a:prstGeom>
        </p:spPr>
      </p:pic>
      <p:pic>
        <p:nvPicPr>
          <p:cNvPr id="8" name="Picture 7" descr="png co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610" y="787400"/>
            <a:ext cx="4480560" cy="4904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870" y="0"/>
            <a:ext cx="10443210" cy="1054100"/>
          </a:xfrm>
        </p:spPr>
        <p:txBody>
          <a:bodyPr>
            <a:normAutofit/>
          </a:bodyPr>
          <a:p>
            <a:r>
              <a:rPr lang="en-US" altLang="en-GB" sz="3555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3110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TECHNICAL </a:t>
            </a:r>
            <a:r>
              <a:rPr lang="en-US" altLang="en-GB" sz="3555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APPROACH </a:t>
            </a:r>
            <a:endParaRPr lang="en-US" altLang="en-GB"/>
          </a:p>
        </p:txBody>
      </p:sp>
      <p:pic>
        <p:nvPicPr>
          <p:cNvPr id="4" name="Content Placeholder 3" descr="team logo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645" y="81280"/>
            <a:ext cx="1031276" cy="568800"/>
          </a:xfrm>
          <a:prstGeom prst="rect">
            <a:avLst/>
          </a:prstGeom>
        </p:spPr>
      </p:pic>
      <p:pic>
        <p:nvPicPr>
          <p:cNvPr id="15" name="Picture 14" descr="system architech 1"/>
          <p:cNvPicPr>
            <a:picLocks noChangeAspect="1"/>
          </p:cNvPicPr>
          <p:nvPr/>
        </p:nvPicPr>
        <p:blipFill>
          <a:blip r:embed="rId2"/>
          <a:srcRect t="17617" r="709" b="9201"/>
          <a:stretch>
            <a:fillRect/>
          </a:stretch>
        </p:blipFill>
        <p:spPr>
          <a:xfrm>
            <a:off x="3460750" y="1029970"/>
            <a:ext cx="8656320" cy="533654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242570" y="1029970"/>
            <a:ext cx="3218180" cy="518223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noAutofit/>
          </a:bodyPr>
          <a:p>
            <a:r>
              <a:rPr lang="en-GB" altLang="en-US" sz="2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en-GB" sz="2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ore System Advantages</a:t>
            </a:r>
            <a:r>
              <a:rPr lang="en-US" altLang="en-GB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7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Zero-Latency Processing</a:t>
            </a:r>
            <a:endParaRPr lang="en-US" altLang="en-GB" sz="17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7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Asynchronous FastAPI routing paired with a React SPA ensures instant, non-blocking UI updates for procurement officers.</a:t>
            </a:r>
            <a:endParaRPr lang="en-US" altLang="en-GB" sz="17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7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7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Hybrid AI Pipeline</a:t>
            </a:r>
            <a:endParaRPr lang="en-US" altLang="en-GB" sz="17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7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Fuses Tesseract OCR data extraction with deterministic rule engines to guarantee 100% explainable, audit-ready verdicts.</a:t>
            </a:r>
            <a:endParaRPr lang="en-US" altLang="en-GB" sz="17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17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17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API-Ready GovTech Integration</a:t>
            </a:r>
            <a:endParaRPr lang="en-GB" altLang="en-US" sz="17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17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DEsigned for secure integration with GeM,Udyam,GST and Income Tax veification API’s</a:t>
            </a:r>
            <a:endParaRPr lang="en-GB" altLang="en-US" sz="17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0" y="6489700"/>
            <a:ext cx="12192000" cy="36830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247515" y="64890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@SIH Idea submission- Template</a:t>
            </a:r>
            <a:endParaRPr lang="en-US" sz="1200" dirty="0">
              <a:solidFill>
                <a:schemeClr val="bg1"/>
              </a:solidFill>
              <a:latin typeface="+mj-lt"/>
              <a:cs typeface="+mj-lt"/>
            </a:endParaRPr>
          </a:p>
          <a:p>
            <a:pPr algn="ctr"/>
            <a:endParaRPr lang="en-GB" altLang="en-US" sz="1200"/>
          </a:p>
        </p:txBody>
      </p:sp>
      <p:sp>
        <p:nvSpPr>
          <p:cNvPr id="20" name="Text Box 19"/>
          <p:cNvSpPr txBox="1"/>
          <p:nvPr/>
        </p:nvSpPr>
        <p:spPr>
          <a:xfrm>
            <a:off x="11598910" y="648906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200">
                <a:solidFill>
                  <a:schemeClr val="bg1"/>
                </a:solidFill>
              </a:rPr>
              <a:t>3</a:t>
            </a:r>
            <a:endParaRPr lang="en-GB" altLang="en-US" sz="1200">
              <a:solidFill>
                <a:schemeClr val="bg1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8025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460" y="-95250"/>
            <a:ext cx="10515600" cy="1325563"/>
          </a:xfrm>
        </p:spPr>
        <p:txBody>
          <a:bodyPr>
            <a:normAutofit/>
          </a:bodyPr>
          <a:p>
            <a:pPr algn="ctr"/>
            <a:r>
              <a:rPr lang="en-US" altLang="en-GB" sz="3200">
                <a:latin typeface="Times New Roman" panose="02020603050405020304" charset="0"/>
                <a:cs typeface="Times New Roman" panose="02020603050405020304" charset="0"/>
              </a:rPr>
              <a:t>FEASIBILITY</a:t>
            </a:r>
            <a:r>
              <a:rPr lang="en-GB" altLang="en-US" sz="3200">
                <a:latin typeface="Times New Roman" panose="02020603050405020304" charset="0"/>
                <a:cs typeface="Times New Roman" panose="02020603050405020304" charset="0"/>
              </a:rPr>
              <a:t> AND VIABILITY</a:t>
            </a:r>
            <a:endParaRPr lang="en-GB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 descr="team logo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10" y="107950"/>
            <a:ext cx="1014730" cy="594995"/>
          </a:xfrm>
          <a:prstGeom prst="rect">
            <a:avLst/>
          </a:prstGeom>
        </p:spPr>
      </p:pic>
      <p:pic>
        <p:nvPicPr>
          <p:cNvPr id="3" name="Picture 2" descr="ocr eligibity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" y="1230630"/>
            <a:ext cx="5528310" cy="4068445"/>
          </a:xfrm>
          <a:prstGeom prst="rect">
            <a:avLst/>
          </a:prstGeom>
        </p:spPr>
      </p:pic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0" y="6435725"/>
            <a:ext cx="12192000" cy="42227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580255" y="6695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sp>
        <p:nvSpPr>
          <p:cNvPr id="20" name="Text Box 19"/>
          <p:cNvSpPr txBox="1"/>
          <p:nvPr/>
        </p:nvSpPr>
        <p:spPr>
          <a:xfrm>
            <a:off x="4064000" y="65354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solidFill>
                  <a:schemeClr val="bg1"/>
                </a:solidFill>
                <a:latin typeface="+mj-ea"/>
                <a:cs typeface="+mj-ea"/>
                <a:sym typeface="+mn-ea"/>
              </a:rPr>
              <a:t>@SIH Idea submission- Template</a:t>
            </a:r>
            <a:endParaRPr lang="en-US" sz="1200" dirty="0">
              <a:solidFill>
                <a:schemeClr val="bg1"/>
              </a:solidFill>
              <a:latin typeface="+mj-ea"/>
              <a:cs typeface="+mj-ea"/>
            </a:endParaRPr>
          </a:p>
          <a:p>
            <a:pPr algn="ctr"/>
            <a:endParaRPr lang="en-GB" altLang="en-US" sz="1200">
              <a:latin typeface="+mj-ea"/>
              <a:cs typeface="+mj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1590655" y="653542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200">
                <a:solidFill>
                  <a:schemeClr val="bg1"/>
                </a:solidFill>
              </a:rPr>
              <a:t>4</a:t>
            </a:r>
            <a:endParaRPr lang="en-GB" altLang="en-US" sz="1200">
              <a:solidFill>
                <a:schemeClr val="bg1"/>
              </a:solidFill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6038850" y="1059815"/>
            <a:ext cx="5363210" cy="242443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noAutofit/>
          </a:bodyPr>
          <a:p>
            <a:pPr algn="l"/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TECHNICAL FEASIBILITY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GB" sz="1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Software-Only Architecture</a:t>
            </a:r>
            <a:endParaRPr lang="en-US" altLang="en-GB" sz="16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GB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No specialized hardware required.</a:t>
            </a:r>
            <a:endParaRPr lang="en-US" altLang="en-GB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GB" sz="1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Lightweight Processing</a:t>
            </a:r>
            <a:endParaRPr lang="en-US" altLang="en-GB" sz="16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GB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Modular document-processing pipeline designed for efficient deployment.</a:t>
            </a:r>
            <a:endParaRPr lang="en-US" altLang="en-GB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GB" sz="16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API-Ready Integration</a:t>
            </a:r>
            <a:endParaRPr lang="en-US" altLang="en-GB" sz="16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GB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Synthetic Mock API enables integration </a:t>
            </a:r>
            <a:r>
              <a:rPr lang="en-GB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end-to-end </a:t>
            </a:r>
            <a:r>
              <a:rPr lang="en-US" altLang="en-GB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testing without live GeM access.</a:t>
            </a:r>
            <a:endParaRPr lang="en-US" altLang="en-GB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GB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6038850" y="3700780"/>
            <a:ext cx="5363210" cy="242887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noAutofit/>
          </a:bodyPr>
          <a:p>
            <a:r>
              <a:rPr lang="en-GB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CHALLENGES &amp; MITIGATIONS</a:t>
            </a:r>
            <a:endParaRPr lang="en-GB" altLang="en-US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🔌</a:t>
            </a: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No Live GeM Access:</a:t>
            </a: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Built a Synthetic Mock API Layer for testing.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📄</a:t>
            </a: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Scanned/Warped PDFs:</a:t>
            </a: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 Implemented Layout-Aware OCR Deskewing and binarization.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🧠</a:t>
            </a: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Ambiguous Clauses:</a:t>
            </a: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 Deployed Hybrid AI combining deterministic rules with NLP semantics.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🔐</a:t>
            </a: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Data Privacy:</a:t>
            </a: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 Secured via Localized RBAC (Role-Based Access Control) Encryption.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130810" y="5402580"/>
            <a:ext cx="631634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3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Document preprocessing improves OCR reliability on scanned tender PDFs</a:t>
            </a:r>
            <a:endParaRPr lang="en-US" altLang="en-GB" sz="13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716" y="23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25" y="-68580"/>
            <a:ext cx="10515600" cy="1325563"/>
          </a:xfrm>
        </p:spPr>
        <p:txBody>
          <a:bodyPr/>
          <a:p>
            <a:pPr algn="ctr"/>
            <a:r>
              <a:rPr lang="en-US" altLang="en-GB" sz="3600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IMPACT AND BENEFITS</a:t>
            </a:r>
            <a:endParaRPr lang="en-US" altLang="en-GB" sz="3600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team logo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3345" y="71755"/>
            <a:ext cx="977265" cy="620395"/>
          </a:xfrm>
          <a:prstGeom prst="rect">
            <a:avLst/>
          </a:prstGeom>
        </p:spPr>
      </p:pic>
      <p:sp>
        <p:nvSpPr>
          <p:cNvPr id="28" name="Rectangles 27"/>
          <p:cNvSpPr/>
          <p:nvPr/>
        </p:nvSpPr>
        <p:spPr>
          <a:xfrm>
            <a:off x="231775" y="1149350"/>
            <a:ext cx="3437255" cy="112014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GB" sz="32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20-22% of GDP: </a:t>
            </a:r>
            <a:r>
              <a:rPr lang="en-US" altLang="en-GB" sz="1400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Source: PIB, Ministry of Finance, 2022</a:t>
            </a:r>
            <a:endParaRPr lang="en-US" altLang="en-GB" sz="1400">
              <a:solidFill>
                <a:schemeClr val="bg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4124960" y="1151255"/>
            <a:ext cx="3557905" cy="1118235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US" sz="32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₹</a:t>
            </a:r>
            <a:r>
              <a:rPr lang="en-US" altLang="en-GB" sz="32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5.03 Lakh Crore: </a:t>
            </a:r>
            <a:r>
              <a:rPr lang="en-US" altLang="en-GB" sz="1400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GeM transaction volume processed in FY 2025-26.Source: GeM / Ministry of Commerce and Industry, April 2026</a:t>
            </a:r>
            <a:endParaRPr lang="en-US" altLang="en-GB" sz="1400">
              <a:solidFill>
                <a:schemeClr val="bg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8138795" y="1149985"/>
            <a:ext cx="3577590" cy="112014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GB" altLang="en-US" sz="32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51+ lakh orders</a:t>
            </a:r>
            <a:r>
              <a:rPr lang="en-US" altLang="en-GB" sz="3200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en-US" altLang="en-GB" b="1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en-GB" b="1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/>
            <a:r>
              <a:rPr lang="en-US" altLang="en-GB" sz="1400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Source: GeM / Ministry of Commerce and Industry, via PIB, April 2026.</a:t>
            </a:r>
            <a:endParaRPr lang="en-US" altLang="en-GB" sz="1400">
              <a:solidFill>
                <a:schemeClr val="bg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4423410" y="2899410"/>
            <a:ext cx="3900805" cy="2453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16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MSME Protection (Bias-free)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16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Audit-Ready Governance (Tamper-pro</a:t>
            </a:r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of)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16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Bidder Digital Fingerprint (Cache history)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160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altLang="en-GB" sz="1600" b="1">
                <a:latin typeface="Times New Roman" panose="02020603050405020304" charset="0"/>
                <a:cs typeface="Times New Roman" panose="02020603050405020304" charset="0"/>
              </a:rPr>
              <a:t>Post-Award Compliance (Continuous tracking)</a:t>
            </a:r>
            <a:endParaRPr lang="en-GB" altLang="en-US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flipH="1">
            <a:off x="4183380" y="2528570"/>
            <a:ext cx="8890" cy="283083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Text Box 34"/>
          <p:cNvSpPr txBox="1"/>
          <p:nvPr/>
        </p:nvSpPr>
        <p:spPr>
          <a:xfrm>
            <a:off x="1070610" y="5505450"/>
            <a:ext cx="9774555" cy="98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altLang="en-GB" sz="2000" i="1">
                <a:latin typeface="Times New Roman" panose="02020603050405020304" charset="0"/>
                <a:cs typeface="Times New Roman" panose="02020603050405020304" charset="0"/>
              </a:rPr>
              <a:t>"SATYAM doesn't just digitize documents—it transforms GeM procurement from a manual bottleneck into a transparent, high-speed national asset."</a:t>
            </a:r>
            <a:endParaRPr lang="en-GB" altLang="en-US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31775" y="2775585"/>
            <a:ext cx="3670935" cy="2555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13000">
                <a:solidFill>
                  <a:srgbClr val="00B050"/>
                </a:solidFill>
              </a:rPr>
              <a:t>83%</a:t>
            </a:r>
            <a:endParaRPr lang="en-GB" altLang="en-US" sz="13000">
              <a:solidFill>
                <a:srgbClr val="00B050"/>
              </a:solidFill>
            </a:endParaRPr>
          </a:p>
          <a:p>
            <a:r>
              <a:rPr lang="en-US" altLang="en-GB" sz="16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Processing Speedup</a:t>
            </a:r>
            <a:r>
              <a:rPr lang="en-US" altLang="en-GB" sz="1600">
                <a:solidFill>
                  <a:srgbClr val="00B050"/>
                </a:solidFill>
              </a:rPr>
              <a:t> </a:t>
            </a:r>
            <a:r>
              <a:rPr lang="en-US" altLang="en-GB" sz="1400">
                <a:solidFill>
                  <a:srgbClr val="00B050"/>
                </a:solidFill>
              </a:rPr>
              <a:t>(60 mins to 10 mins</a:t>
            </a:r>
            <a:r>
              <a:rPr lang="en-US" altLang="en-GB" sz="1600">
                <a:solidFill>
                  <a:srgbClr val="00B050"/>
                </a:solidFill>
              </a:rPr>
              <a:t>)</a:t>
            </a:r>
            <a:endParaRPr lang="en-US" altLang="en-GB" sz="1600">
              <a:solidFill>
                <a:srgbClr val="00B050"/>
              </a:solidFill>
            </a:endParaRPr>
          </a:p>
        </p:txBody>
      </p:sp>
      <p:pic>
        <p:nvPicPr>
          <p:cNvPr id="9" name="Picture 8" descr="shield_emoj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245" y="2572385"/>
            <a:ext cx="1033780" cy="1033780"/>
          </a:xfrm>
          <a:prstGeom prst="rect">
            <a:avLst/>
          </a:prstGeom>
        </p:spPr>
      </p:pic>
      <p:pic>
        <p:nvPicPr>
          <p:cNvPr id="10" name="Picture 9" descr="check_emoj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960" y="3155315"/>
            <a:ext cx="768985" cy="768985"/>
          </a:xfrm>
          <a:prstGeom prst="rect">
            <a:avLst/>
          </a:prstGeom>
        </p:spPr>
      </p:pic>
      <p:pic>
        <p:nvPicPr>
          <p:cNvPr id="11" name="Picture 10" descr="chart_emoj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245" y="4225290"/>
            <a:ext cx="1078230" cy="1078230"/>
          </a:xfrm>
          <a:prstGeom prst="rect">
            <a:avLst/>
          </a:prstGeom>
        </p:spPr>
      </p:pic>
      <p:pic>
        <p:nvPicPr>
          <p:cNvPr id="12" name="Picture 11" descr="id_emoj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245" y="3562985"/>
            <a:ext cx="979805" cy="979805"/>
          </a:xfrm>
          <a:prstGeom prst="rect">
            <a:avLst/>
          </a:prstGeom>
        </p:spPr>
      </p:pic>
      <p:pic>
        <p:nvPicPr>
          <p:cNvPr id="14" name="Picture 13" descr="C:/Users/hp/OneDrive/Documents/ai compliance.jpegai compliance"/>
          <p:cNvPicPr>
            <a:picLocks noChangeAspect="1"/>
          </p:cNvPicPr>
          <p:nvPr/>
        </p:nvPicPr>
        <p:blipFill>
          <a:blip r:embed="rId6"/>
          <a:srcRect l="3830" r="3830"/>
          <a:stretch>
            <a:fillRect/>
          </a:stretch>
        </p:blipFill>
        <p:spPr>
          <a:xfrm>
            <a:off x="8334375" y="2640965"/>
            <a:ext cx="3600450" cy="1997710"/>
          </a:xfrm>
          <a:prstGeom prst="rect">
            <a:avLst/>
          </a:prstGeom>
          <a:effectLst>
            <a:innerShdw blurRad="279400" dist="50800" dir="18900000">
              <a:prstClr val="black">
                <a:alpha val="50000"/>
              </a:prstClr>
            </a:innerShdw>
          </a:effectLst>
        </p:spPr>
      </p:pic>
      <p:sp>
        <p:nvSpPr>
          <p:cNvPr id="15" name="Text Box 14"/>
          <p:cNvSpPr txBox="1"/>
          <p:nvPr/>
        </p:nvSpPr>
        <p:spPr>
          <a:xfrm>
            <a:off x="4293870" y="25285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Core Value Pillars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0" y="6452235"/>
            <a:ext cx="12192000" cy="40576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260215" y="64922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@SIH Idea submission- Template</a:t>
            </a:r>
            <a:endParaRPr lang="en-US" sz="1200" dirty="0">
              <a:solidFill>
                <a:schemeClr val="bg1"/>
              </a:solidFill>
              <a:latin typeface="+mj-lt"/>
              <a:cs typeface="+mj-lt"/>
            </a:endParaRPr>
          </a:p>
          <a:p>
            <a:pPr algn="ctr"/>
            <a:endParaRPr lang="en-GB" altLang="en-US" sz="1200"/>
          </a:p>
        </p:txBody>
      </p:sp>
      <p:sp>
        <p:nvSpPr>
          <p:cNvPr id="18" name="Text Box 17"/>
          <p:cNvSpPr txBox="1"/>
          <p:nvPr/>
        </p:nvSpPr>
        <p:spPr>
          <a:xfrm>
            <a:off x="11598910" y="658241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200">
                <a:solidFill>
                  <a:schemeClr val="bg1"/>
                </a:solidFill>
              </a:rPr>
              <a:t>5</a:t>
            </a:r>
            <a:endParaRPr lang="en-GB" altLang="en-US" sz="1200"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415" y="-212090"/>
            <a:ext cx="10515600" cy="1325563"/>
          </a:xfrm>
        </p:spPr>
        <p:txBody>
          <a:bodyPr/>
          <a:p>
            <a:pPr algn="ctr"/>
            <a:r>
              <a:rPr lang="en-US" altLang="en-GB" sz="3600">
                <a:solidFill>
                  <a:schemeClr val="accent5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RESEARCH AND REFERENCES</a:t>
            </a:r>
            <a:endParaRPr lang="en-US" altLang="en-GB" sz="3600">
              <a:solidFill>
                <a:schemeClr val="accent5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 descr="team logo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0" y="90170"/>
            <a:ext cx="975600" cy="578946"/>
          </a:xfrm>
          <a:prstGeom prst="rect">
            <a:avLst/>
          </a:prstGeom>
        </p:spPr>
      </p:pic>
      <p:sp>
        <p:nvSpPr>
          <p:cNvPr id="17" name="Horizontal Scroll 16"/>
          <p:cNvSpPr/>
          <p:nvPr/>
        </p:nvSpPr>
        <p:spPr>
          <a:xfrm>
            <a:off x="780415" y="1457325"/>
            <a:ext cx="1875155" cy="1480185"/>
          </a:xfrm>
          <a:prstGeom prst="horizontalScroll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GFR 2017:</a:t>
            </a:r>
            <a:r>
              <a:rPr lang="en-US" altLang="en-GB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Manual for Procurement of Goods</a:t>
            </a:r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GB" altLang="en-US" sz="1400" b="1">
                <a:ln/>
                <a:solidFill>
                  <a:schemeClr val="accent5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charset="0"/>
                <a:cs typeface="Times New Roman" panose="02020603050405020304" charset="0"/>
                <a:hlinkClick r:id="rId2" tooltip="" action="ppaction://hlinkfile"/>
              </a:rPr>
              <a:t>[LINK]</a:t>
            </a:r>
            <a:endParaRPr lang="en-GB" altLang="en-US" sz="1400" b="1">
              <a:ln/>
              <a:solidFill>
                <a:schemeClr val="accent5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Horizontal Scroll 18"/>
          <p:cNvSpPr/>
          <p:nvPr/>
        </p:nvSpPr>
        <p:spPr>
          <a:xfrm>
            <a:off x="9976485" y="1457325"/>
            <a:ext cx="1875155" cy="1471295"/>
          </a:xfrm>
          <a:prstGeom prst="horizontalScroll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Project SATYAM GitHub &amp; Interactive Portal</a:t>
            </a:r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GB" altLang="en-US" sz="1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[</a:t>
            </a:r>
            <a:r>
              <a:rPr lang="en-GB" altLang="en-US" sz="1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  <a:hlinkClick r:id="rId3" tooltip="" action="ppaction://hlinkfile"/>
              </a:rPr>
              <a:t>LINK</a:t>
            </a:r>
            <a:r>
              <a:rPr lang="en-GB" altLang="en-US" sz="1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]</a:t>
            </a:r>
            <a:endParaRPr lang="en-GB" altLang="en-US" sz="1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Horizontal Scroll 19"/>
          <p:cNvSpPr/>
          <p:nvPr/>
        </p:nvSpPr>
        <p:spPr>
          <a:xfrm>
            <a:off x="5378450" y="1457325"/>
            <a:ext cx="1875155" cy="1475105"/>
          </a:xfrm>
          <a:prstGeom prst="horizontalScroll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NITI Aayog: Responsible AI for GovTech</a:t>
            </a:r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GB" altLang="en-US" sz="1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  <a:hlinkClick r:id="rId4" tooltip="" action="ppaction://hlinkfile"/>
              </a:rPr>
              <a:t>[LINK]</a:t>
            </a:r>
            <a:endParaRPr lang="en-GB" altLang="en-US" sz="1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Horizontal Scroll 20"/>
          <p:cNvSpPr/>
          <p:nvPr/>
        </p:nvSpPr>
        <p:spPr>
          <a:xfrm>
            <a:off x="3159125" y="1457325"/>
            <a:ext cx="1875155" cy="1473200"/>
          </a:xfrm>
          <a:prstGeom prst="horizontalScroll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Tesseract OCR &amp; LayoutLM Architecture</a:t>
            </a:r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GB" altLang="en-US" sz="1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  <a:hlinkClick r:id="rId5" tooltip="" action="ppaction://hlinkfile"/>
              </a:rPr>
              <a:t>[LINK]</a:t>
            </a:r>
            <a:endParaRPr lang="en-GB" altLang="en-US" sz="1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Horizontal Scroll 21"/>
          <p:cNvSpPr/>
          <p:nvPr/>
        </p:nvSpPr>
        <p:spPr>
          <a:xfrm>
            <a:off x="7699375" y="1457325"/>
            <a:ext cx="1875155" cy="1480185"/>
          </a:xfrm>
          <a:prstGeom prst="horizontalScroll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13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GeM Portal v4.0 Data Schemas &amp; API Specs</a:t>
            </a:r>
            <a:endParaRPr sz="13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en-GB" sz="9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Restricted-access model — public APIs via API Setu (apisetu.gov.in)</a:t>
            </a:r>
            <a:endParaRPr lang="en-US" altLang="en-GB" sz="9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9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1047750" y="1038225"/>
            <a:ext cx="20497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Automated Clause Verification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7" name="Text Box 56"/>
          <p:cNvSpPr txBox="1"/>
          <p:nvPr/>
        </p:nvSpPr>
        <p:spPr>
          <a:xfrm>
            <a:off x="3347085" y="1051560"/>
            <a:ext cx="1845945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Layout-Aware PDF Parsing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Text Box 57"/>
          <p:cNvSpPr txBox="1"/>
          <p:nvPr/>
        </p:nvSpPr>
        <p:spPr>
          <a:xfrm>
            <a:off x="5679440" y="1061085"/>
            <a:ext cx="18516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Zero Black-Box Auditability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Text Box 58"/>
          <p:cNvSpPr txBox="1"/>
          <p:nvPr/>
        </p:nvSpPr>
        <p:spPr>
          <a:xfrm>
            <a:off x="8067675" y="1051560"/>
            <a:ext cx="18326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Standardized API Alignment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Text Box 59"/>
          <p:cNvSpPr txBox="1"/>
          <p:nvPr/>
        </p:nvSpPr>
        <p:spPr>
          <a:xfrm>
            <a:off x="10083800" y="1061085"/>
            <a:ext cx="2061845" cy="472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400">
                <a:latin typeface="Times New Roman" panose="02020603050405020304" charset="0"/>
                <a:cs typeface="Times New Roman" panose="02020603050405020304" charset="0"/>
              </a:rPr>
              <a:t>Working Platform Deployment</a:t>
            </a:r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-26035" y="3060700"/>
            <a:ext cx="12191365" cy="3561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Text Box 62"/>
          <p:cNvSpPr txBox="1"/>
          <p:nvPr/>
        </p:nvSpPr>
        <p:spPr>
          <a:xfrm>
            <a:off x="147955" y="3125470"/>
            <a:ext cx="26333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LIVE PROTOTYPE UI</a:t>
            </a:r>
            <a:endParaRPr lang="en-US" altLang="en-GB" sz="16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4" name="Rectangles 63"/>
          <p:cNvSpPr/>
          <p:nvPr/>
        </p:nvSpPr>
        <p:spPr>
          <a:xfrm>
            <a:off x="1014730" y="3617595"/>
            <a:ext cx="3089910" cy="112776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5" name="Rectangles 64"/>
          <p:cNvSpPr/>
          <p:nvPr/>
        </p:nvSpPr>
        <p:spPr>
          <a:xfrm>
            <a:off x="4608195" y="3914140"/>
            <a:ext cx="3920490" cy="207581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6" name="Rectangles 65"/>
          <p:cNvSpPr/>
          <p:nvPr/>
        </p:nvSpPr>
        <p:spPr>
          <a:xfrm>
            <a:off x="941705" y="5158740"/>
            <a:ext cx="3066415" cy="119951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7" name="Rectangles 66"/>
          <p:cNvSpPr/>
          <p:nvPr/>
        </p:nvSpPr>
        <p:spPr>
          <a:xfrm>
            <a:off x="8926830" y="5186045"/>
            <a:ext cx="2841625" cy="119951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8" name="Rectangles 67"/>
          <p:cNvSpPr/>
          <p:nvPr/>
        </p:nvSpPr>
        <p:spPr>
          <a:xfrm>
            <a:off x="8875395" y="3670300"/>
            <a:ext cx="2861945" cy="11271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69" name="Picture 68" descr="C:/Users/hp/OneDrive/Documents/ai compliance.jpegai compliance"/>
          <p:cNvPicPr>
            <a:picLocks noChangeAspect="1"/>
          </p:cNvPicPr>
          <p:nvPr/>
        </p:nvPicPr>
        <p:blipFill>
          <a:blip r:embed="rId6"/>
          <a:srcRect l="1591" r="1591"/>
          <a:stretch>
            <a:fillRect/>
          </a:stretch>
        </p:blipFill>
        <p:spPr>
          <a:xfrm>
            <a:off x="4605655" y="3914775"/>
            <a:ext cx="3920490" cy="207518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91" name="Picture 90" descr="C:/Users/hp/OneDrive/Documents/tender analysis.jpegtender analysis"/>
          <p:cNvPicPr>
            <a:picLocks noChangeAspect="1"/>
          </p:cNvPicPr>
          <p:nvPr/>
        </p:nvPicPr>
        <p:blipFill>
          <a:blip r:embed="rId7"/>
          <a:srcRect t="12518" b="12518"/>
          <a:stretch>
            <a:fillRect/>
          </a:stretch>
        </p:blipFill>
        <p:spPr>
          <a:xfrm>
            <a:off x="941705" y="3620770"/>
            <a:ext cx="3162935" cy="122428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2" name="Picture 91" descr="C:/Users/hp/OneDrive/Documents/document verification.jpegdocument verification"/>
          <p:cNvPicPr>
            <a:picLocks noChangeAspect="1"/>
          </p:cNvPicPr>
          <p:nvPr/>
        </p:nvPicPr>
        <p:blipFill>
          <a:blip r:embed="rId8"/>
          <a:srcRect t="9677" b="9677"/>
          <a:stretch>
            <a:fillRect/>
          </a:stretch>
        </p:blipFill>
        <p:spPr>
          <a:xfrm>
            <a:off x="897890" y="5171440"/>
            <a:ext cx="3110230" cy="1313815"/>
          </a:xfrm>
          <a:prstGeom prst="rect">
            <a:avLst/>
          </a:prstGeom>
        </p:spPr>
      </p:pic>
      <p:pic>
        <p:nvPicPr>
          <p:cNvPr id="93" name="Picture 92" descr="C:/Users/hp/OneDrive/Documents/bidder fingerprint.jpegbidder fingerprint"/>
          <p:cNvPicPr>
            <a:picLocks noChangeAspect="1"/>
          </p:cNvPicPr>
          <p:nvPr/>
        </p:nvPicPr>
        <p:blipFill>
          <a:blip r:embed="rId9"/>
          <a:srcRect t="9720" b="9720"/>
          <a:stretch>
            <a:fillRect/>
          </a:stretch>
        </p:blipFill>
        <p:spPr>
          <a:xfrm>
            <a:off x="8874125" y="3670300"/>
            <a:ext cx="2975610" cy="1225550"/>
          </a:xfrm>
          <a:prstGeom prst="rect">
            <a:avLst/>
          </a:prstGeom>
        </p:spPr>
      </p:pic>
      <p:pic>
        <p:nvPicPr>
          <p:cNvPr id="94" name="Picture 93" descr="C:/Users/hp/OneDrive/Documents/report trails.jpegreport trails"/>
          <p:cNvPicPr>
            <a:picLocks noChangeAspect="1"/>
          </p:cNvPicPr>
          <p:nvPr/>
        </p:nvPicPr>
        <p:blipFill>
          <a:blip r:embed="rId10"/>
          <a:srcRect t="8937" b="8937"/>
          <a:stretch>
            <a:fillRect/>
          </a:stretch>
        </p:blipFill>
        <p:spPr>
          <a:xfrm>
            <a:off x="8823325" y="5186045"/>
            <a:ext cx="2945130" cy="1262380"/>
          </a:xfrm>
          <a:prstGeom prst="rect">
            <a:avLst/>
          </a:prstGeom>
        </p:spPr>
      </p:pic>
      <p:sp>
        <p:nvSpPr>
          <p:cNvPr id="95" name="Rectangles 94"/>
          <p:cNvSpPr/>
          <p:nvPr/>
        </p:nvSpPr>
        <p:spPr>
          <a:xfrm>
            <a:off x="960755" y="3503930"/>
            <a:ext cx="3195320" cy="8636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4" name="Rectangles 3"/>
          <p:cNvSpPr/>
          <p:nvPr/>
        </p:nvSpPr>
        <p:spPr>
          <a:xfrm>
            <a:off x="8905875" y="5080635"/>
            <a:ext cx="2943860" cy="762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5" name="Rectangles 4"/>
          <p:cNvSpPr/>
          <p:nvPr/>
        </p:nvSpPr>
        <p:spPr>
          <a:xfrm>
            <a:off x="980440" y="5067935"/>
            <a:ext cx="3028315" cy="762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Rectangles 7"/>
          <p:cNvSpPr/>
          <p:nvPr/>
        </p:nvSpPr>
        <p:spPr>
          <a:xfrm>
            <a:off x="4605655" y="3847465"/>
            <a:ext cx="3922395" cy="1016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9" name="Rectangles 8"/>
          <p:cNvSpPr/>
          <p:nvPr/>
        </p:nvSpPr>
        <p:spPr>
          <a:xfrm>
            <a:off x="8875395" y="3558540"/>
            <a:ext cx="2976245" cy="762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0" name="Picture 9" descr="SATYAM_Status_Lights_Dark_Nav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755" y="3498215"/>
            <a:ext cx="413385" cy="120015"/>
          </a:xfrm>
          <a:prstGeom prst="rect">
            <a:avLst/>
          </a:prstGeom>
        </p:spPr>
      </p:pic>
      <p:pic>
        <p:nvPicPr>
          <p:cNvPr id="15" name="Picture 14" descr="SATYAM_Status_Lights_Dark_Nav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890" y="5003165"/>
            <a:ext cx="393700" cy="131445"/>
          </a:xfrm>
          <a:prstGeom prst="rect">
            <a:avLst/>
          </a:prstGeom>
        </p:spPr>
      </p:pic>
      <p:pic>
        <p:nvPicPr>
          <p:cNvPr id="16" name="Picture 15" descr="SATYAM_Status_Lights_Dark_Nav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7555" y="3791585"/>
            <a:ext cx="511810" cy="170815"/>
          </a:xfrm>
          <a:prstGeom prst="rect">
            <a:avLst/>
          </a:prstGeom>
        </p:spPr>
      </p:pic>
      <p:pic>
        <p:nvPicPr>
          <p:cNvPr id="18" name="Picture 17" descr="SATYAM_Status_Lights_Dark_Nav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6980" y="3552190"/>
            <a:ext cx="332105" cy="111125"/>
          </a:xfrm>
          <a:prstGeom prst="rect">
            <a:avLst/>
          </a:prstGeom>
        </p:spPr>
      </p:pic>
      <p:pic>
        <p:nvPicPr>
          <p:cNvPr id="23" name="Picture 22" descr="SATYAM_Status_Lights_Dark_Nav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75395" y="5063490"/>
            <a:ext cx="368300" cy="122555"/>
          </a:xfrm>
          <a:prstGeom prst="rect">
            <a:avLst/>
          </a:prstGeom>
        </p:spPr>
      </p:pic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-26670" y="6522085"/>
            <a:ext cx="12218670" cy="33591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104640" y="66020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@SIH Idea submission- Template</a:t>
            </a:r>
            <a:endParaRPr lang="en-US" sz="1200" dirty="0">
              <a:solidFill>
                <a:schemeClr val="bg1"/>
              </a:solidFill>
              <a:latin typeface="+mj-lt"/>
              <a:cs typeface="+mj-lt"/>
            </a:endParaRPr>
          </a:p>
          <a:p>
            <a:pPr algn="ctr"/>
            <a:endParaRPr lang="en-GB" altLang="en-US" sz="1200"/>
          </a:p>
        </p:txBody>
      </p:sp>
      <p:sp>
        <p:nvSpPr>
          <p:cNvPr id="25" name="Text Box 24"/>
          <p:cNvSpPr txBox="1"/>
          <p:nvPr/>
        </p:nvSpPr>
        <p:spPr>
          <a:xfrm>
            <a:off x="11659870" y="657415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200">
                <a:solidFill>
                  <a:schemeClr val="bg1"/>
                </a:solidFill>
              </a:rPr>
              <a:t>6</a:t>
            </a:r>
            <a:endParaRPr lang="en-GB" altLang="en-US" sz="1200">
              <a:solidFill>
                <a:schemeClr val="bg1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3365</Words>
  <Application>WPS Presentation</Application>
  <PresentationFormat>Widescreen</PresentationFormat>
  <Paragraphs>143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Times New Roman</vt:lpstr>
      <vt:lpstr>Calibri Light</vt:lpstr>
      <vt:lpstr>Microsoft YaHei</vt:lpstr>
      <vt:lpstr>Arial Unicode MS</vt:lpstr>
      <vt:lpstr>Calibri</vt:lpstr>
      <vt:lpstr>Vladimir Script</vt:lpstr>
      <vt:lpstr>Trebuchet MS</vt:lpstr>
      <vt:lpstr>Tw Cen MT</vt:lpstr>
      <vt:lpstr>Tw Cen MT Condensed Extra Bold</vt:lpstr>
      <vt:lpstr>Office Theme</vt:lpstr>
      <vt:lpstr>SMART INDIA HACKATHON 2026 </vt:lpstr>
      <vt:lpstr>SATYAM : An intelligent compliance and verification layer built around the GeM procurement ecosystem </vt:lpstr>
      <vt:lpstr> TECHNICAL APPROACH &amp; SYSTEM ARCHITECTURE </vt:lpstr>
      <vt:lpstr>FEASIBILITY, CHALLENGES &amp; MITIGATIONS </vt:lpstr>
      <vt:lpstr>IMPACT AND BENEFITS</vt:lpstr>
      <vt:lpstr>RESEARCH AND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Sai Teja</cp:lastModifiedBy>
  <cp:revision>12</cp:revision>
  <dcterms:created xsi:type="dcterms:W3CDTF">2025-07-23T00:59:00Z</dcterms:created>
  <dcterms:modified xsi:type="dcterms:W3CDTF">2026-09-06T10:09:13Z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11749C0DBB15489294411FAB9ED67EDC_13</vt:lpwstr>
  </property>
  <property fmtid="{D5CDD505-2E9C-101B-9397-08002B2CF9AE}" pid="3" name="KSOProductBuildVer">
    <vt:lpwstr>2057-12.2.0.23206</vt:lpwstr>
  </property>
</Properties>
</file>